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30393ced14444f" /><Relationship Type="http://schemas.openxmlformats.org/officeDocument/2006/relationships/extended-properties" Target="/docProps/app.xml" Id="R76197782861f4f9d" /><Relationship Type="http://schemas.openxmlformats.org/officeDocument/2006/relationships/officeDocument" Target="/ppt/presentation.xml" Id="Rdb65698b579445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f16083807145e9"/>
  </p:sldMasterIdLst>
  <p:notesMasterIdLst>
    <p:notesMasterId xmlns:r="http://schemas.openxmlformats.org/officeDocument/2006/relationships" r:id="Ra344f94936794e5d"/>
  </p:notesMasterIdLst>
  <p:sldIdLst>
    <p:sldId xmlns:r="http://schemas.openxmlformats.org/officeDocument/2006/relationships" id="256" r:id="R93c17ebe49144fdd"/>
    <p:sldId xmlns:r="http://schemas.openxmlformats.org/officeDocument/2006/relationships" id="257" r:id="R0baa184623d74c61"/>
    <p:sldId xmlns:r="http://schemas.openxmlformats.org/officeDocument/2006/relationships" id="258" r:id="R4c64877cc7b04322"/>
    <p:sldId xmlns:r="http://schemas.openxmlformats.org/officeDocument/2006/relationships" id="259" r:id="R6342971225614e54"/>
    <p:sldId xmlns:r="http://schemas.openxmlformats.org/officeDocument/2006/relationships" id="260" r:id="Rb876944e9b7c492c"/>
    <p:sldId xmlns:r="http://schemas.openxmlformats.org/officeDocument/2006/relationships" id="261" r:id="R9791cee8d0714e1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876481f5e5f4ff1" /><Relationship Type="http://schemas.openxmlformats.org/officeDocument/2006/relationships/slideMaster" Target="/ppt/slideMasters/slideMaster1.xml" Id="R9cf16083807145e9" /><Relationship Type="http://schemas.openxmlformats.org/officeDocument/2006/relationships/notesMaster" Target="/ppt/notesMasters/notesMaster1.xml" Id="Ra344f94936794e5d" /><Relationship Type="http://schemas.openxmlformats.org/officeDocument/2006/relationships/presProps" Target="/ppt/presProps.xml" Id="R38749991d5d34cc8" /><Relationship Type="http://schemas.openxmlformats.org/officeDocument/2006/relationships/tableStyles" Target="/ppt/tableStyles.xml" Id="R53b027e50e8d49d5" /><Relationship Type="http://schemas.openxmlformats.org/officeDocument/2006/relationships/slide" Target="/ppt/slides/slide1.xml" Id="R93c17ebe49144fdd" /><Relationship Type="http://schemas.openxmlformats.org/officeDocument/2006/relationships/slide" Target="/ppt/slides/slide2.xml" Id="R0baa184623d74c61" /><Relationship Type="http://schemas.openxmlformats.org/officeDocument/2006/relationships/slide" Target="/ppt/slides/slide3.xml" Id="R4c64877cc7b04322" /><Relationship Type="http://schemas.openxmlformats.org/officeDocument/2006/relationships/slide" Target="/ppt/slides/slide4.xml" Id="R6342971225614e54" /><Relationship Type="http://schemas.openxmlformats.org/officeDocument/2006/relationships/slide" Target="/ppt/slides/slide5.xml" Id="Rb876944e9b7c492c" /><Relationship Type="http://schemas.openxmlformats.org/officeDocument/2006/relationships/slide" Target="/ppt/slides/slide6.xml" Id="R9791cee8d0714e1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3388347bf6483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e5e80d8fc64b3a" /><Relationship Type="http://schemas.openxmlformats.org/officeDocument/2006/relationships/notesMaster" Target="/ppt/notesMasters/notesMaster1.xml" Id="Ref85f807966a46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ae3c567793945b5" /><Relationship Type="http://schemas.openxmlformats.org/officeDocument/2006/relationships/notesMaster" Target="/ppt/notesMasters/notesMaster1.xml" Id="R83bed4b02d5b4ff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3762ba97a63424d" /><Relationship Type="http://schemas.openxmlformats.org/officeDocument/2006/relationships/notesMaster" Target="/ppt/notesMasters/notesMaster1.xml" Id="R497157c6c2744b2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67f324c1a1d411e" /><Relationship Type="http://schemas.openxmlformats.org/officeDocument/2006/relationships/notesMaster" Target="/ppt/notesMasters/notesMaster1.xml" Id="Rfa76f3e89f6e40c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0f63aea09b243b4" /><Relationship Type="http://schemas.openxmlformats.org/officeDocument/2006/relationships/notesMaster" Target="/ppt/notesMasters/notesMaster1.xml" Id="R9b319be276e248a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aef73e207f94d06" /><Relationship Type="http://schemas.openxmlformats.org/officeDocument/2006/relationships/notesMaster" Target="/ppt/notesMasters/notesMaster1.xml" Id="R275b5f814e524f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Учебная модель команды: 5 разработчиков, 2 QA, 1 менеджер. Источники: https://scrumguides.org/scrum-guide.html и https://kanbanguides.org/the-kanban-guide. Плановые сроки и правила предложены автором, фактические встречи не проводились.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Учебная модель команды: 5 разработчиков, 2 QA, 1 менеджер. Источники: https://scrumguides.org/scrum-guide.html и https://kanbanguides.org/the-kanban-guide. Плановые сроки и правила предложены автором, фактические встречи не проводились.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Учебная модель команды: 5 разработчиков, 2 QA, 1 менеджер. Источники: https://scrumguides.org/scrum-guide.html и https://kanbanguides.org/the-kanban-guide. Плановые сроки и правила предложены автором, фактические встречи не проводились.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Учебная модель команды: 5 разработчиков, 2 QA, 1 менеджер. Источники: https://scrumguides.org/scrum-guide.html и https://kanbanguides.org/the-kanban-guide. Плановые сроки и правила предложены автором, фактические встречи не проводились.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Учебная модель команды: 5 разработчиков, 2 QA, 1 менеджер. Источники: https://scrumguides.org/scrum-guide.html и https://kanbanguides.org/the-kanban-guide. Плановые сроки и правила предложены автором, фактические встречи не проводились.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Учебная модель команды: 5 разработчиков, 2 QA, 1 менеджер. Источники: https://scrumguides.org/scrum-guide.html и https://kanbanguides.org/the-kanban-guide. Плановые сроки и правила предложены автором, фактические встречи не проводились.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616dd9ef6f433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6f57dea185448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d9af9f32324bc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0228b22d954fd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b1521a36ea4b3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9aa2f798fb40f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EDA19F8-44F3-4816-A1B2-87D03B68D1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1FECF53-1FA4-4145-95F8-6A2C4F11D19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2636D2B-767C-4ED8-B440-1E99CE3308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E23ED0E-9328-4CF7-AE08-ACB45287E5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584B48A-F61F-426F-BCB1-E0009D3AA8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4DD0968-16EA-48D7-9928-47F93A32C6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A16B221-1C9D-485C-ABE9-2CB42CD2C8D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0B4CE13-266B-4CE1-BD07-D3ECD21C15D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90E30DC-5798-4823-ACDA-58A0A8CB34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DAFDF65-7619-4647-AD18-FFD8C0A0D9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c632b41b664033" /><Relationship Type="http://schemas.openxmlformats.org/officeDocument/2006/relationships/slideLayout" Target="/ppt/slideLayouts/slideLayout1.xml" Id="Rba3392191d65466a" /><Relationship Type="http://schemas.openxmlformats.org/officeDocument/2006/relationships/slideLayout" Target="/ppt/slideLayouts/slideLayout2.xml" Id="R6be0b0b71b984aba" /><Relationship Type="http://schemas.openxmlformats.org/officeDocument/2006/relationships/slideLayout" Target="/ppt/slideLayouts/slideLayout3.xml" Id="R7461164186354475" /><Relationship Type="http://schemas.openxmlformats.org/officeDocument/2006/relationships/slideLayout" Target="/ppt/slideLayouts/slideLayout4.xml" Id="Ra24bf05cc8564db1" /><Relationship Type="http://schemas.openxmlformats.org/officeDocument/2006/relationships/slideLayout" Target="/ppt/slideLayouts/slideLayout5.xml" Id="R1975b6756c6945da" /><Relationship Type="http://schemas.openxmlformats.org/officeDocument/2006/relationships/slideLayout" Target="/ppt/slideLayouts/slideLayout6.xml" Id="Rfc9e4f8b95bf487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3392191d65466a"/>
    <p:sldLayoutId xmlns:r="http://schemas.openxmlformats.org/officeDocument/2006/relationships" id="2147483650" r:id="R6be0b0b71b984aba"/>
    <p:sldLayoutId xmlns:r="http://schemas.openxmlformats.org/officeDocument/2006/relationships" id="2147483651" r:id="R7461164186354475"/>
    <p:sldLayoutId xmlns:r="http://schemas.openxmlformats.org/officeDocument/2006/relationships" id="2147483652" r:id="Ra24bf05cc8564db1"/>
    <p:sldLayoutId xmlns:r="http://schemas.openxmlformats.org/officeDocument/2006/relationships" id="2147483653" r:id="R1975b6756c6945da"/>
    <p:sldLayoutId xmlns:r="http://schemas.openxmlformats.org/officeDocument/2006/relationships" id="2147483654" r:id="Rfc9e4f8b95bf487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7bcc98c9074b4f" /><Relationship Type="http://schemas.openxmlformats.org/officeDocument/2006/relationships/notesSlide" Target="/ppt/notesSlides/notesSlide1.xml" Id="R99e51409047841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54cb39d38640f0" /><Relationship Type="http://schemas.openxmlformats.org/officeDocument/2006/relationships/notesSlide" Target="/ppt/notesSlides/notesSlide2.xml" Id="R5f4de9eb0e654fc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2e71fb69c54416" /><Relationship Type="http://schemas.openxmlformats.org/officeDocument/2006/relationships/notesSlide" Target="/ppt/notesSlides/notesSlide3.xml" Id="R8f11f7731a0b4f0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d39c5221e74a44" /><Relationship Type="http://schemas.openxmlformats.org/officeDocument/2006/relationships/notesSlide" Target="/ppt/notesSlides/notesSlide4.xml" Id="R75852d6b990c435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3b14ce62184dc4" /><Relationship Type="http://schemas.openxmlformats.org/officeDocument/2006/relationships/notesSlide" Target="/ppt/notesSlides/notesSlide5.xml" Id="R102a2139bc6a41c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784b54309148f7" /><Relationship Type="http://schemas.openxmlformats.org/officeDocument/2006/relationships/notesSlide" Target="/ppt/notesSlides/notesSlide6.xml" Id="R56f096e1279d4a1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F3A61C-3FE6-45DD-8F1A-9F23B79D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875027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875027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875027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875027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875027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875027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875027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875027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875027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8750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875027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875027"/>
                </a:solidFill>
                <a:latin typeface="Arial"/>
                <a:ea typeface="Arial"/>
                <a:cs typeface="Arial"/>
              </a:rPr>
              <a:t>Команда платформы учебных курсов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11CCBC-E422-4053-A9E1-44A7592E0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34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1 /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A08A26-7CC1-4CF1-800D-9D135D04C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Завьялова Ксения</a:t>
            </a:r>
          </a:p>
          <a:p xmlns:a="http://schemas.openxmlformats.org/drawingml/2006/main">
            <a:pPr>
              <a:defRPr sz="25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Задание 1863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9280DC-2D3F-4958-B9F2-BBDDB5C05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14750"/>
            <a:ext cx="1076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4364B"/>
                </a:solidFill>
                <a:latin typeface="Arial"/>
                <a:ea typeface="Arial"/>
                <a:cs typeface="Arial"/>
              </a:rPr>
              <a:t>8 участников</a:t>
            </a:r>
          </a:p>
          <a:p xmlns:a="http://schemas.openxmlformats.org/drawingml/2006/main">
            <a:pPr>
              <a:defRPr sz="2550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4364B"/>
                </a:solidFill>
                <a:latin typeface="Arial"/>
                <a:ea typeface="Arial"/>
                <a:cs typeface="Arial"/>
              </a:rPr>
              <a:t>5 разработчиков · 2 тестировщика · 1 менеджер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E92D5E-1866-4FB1-8E9F-1C3DCFE65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7687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Kanban для потока заявок разного размера</a:t>
            </a:r>
          </a:p>
        </p:txBody>
      </p:sp>
    </p:spTree>
    <p:extLst>
      <p:ext uri="{BB962C8B-B14F-4D97-AF65-F5344CB8AC3E}">
        <p14:creationId xmlns:p14="http://schemas.microsoft.com/office/powerpoint/2010/main" val="3763739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E70260-EADD-4F38-A2E0-D29E6CC6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875027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875027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875027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875027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875027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875027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875027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875027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875027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8750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875027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875027"/>
                </a:solidFill>
                <a:latin typeface="Arial"/>
                <a:ea typeface="Arial"/>
                <a:cs typeface="Arial"/>
              </a:rPr>
              <a:t>Распределение ответственности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74D7E9-5488-47AE-A9A2-1EE221099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34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2 / 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DD9105-12F0-4ADB-977C-5A6E8F09956B}"/>
              </a:ext>
            </a:extLst>
          </p:cNvPr>
          <p:cNvGraphicFramePr/>
          <p:nvPr/>
        </p:nvGraphicFramePr>
        <p:xfrm>
          <a:off xmlns:a="http://schemas.openxmlformats.org/drawingml/2006/main" x="619125" y="1762125"/>
          <a:ext xmlns:a="http://schemas.openxmlformats.org/drawingml/2006/main" cx="1095375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810500"/>
              </a:tblGrid>
              <a:tr h="68580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Участники</a:t>
                      </a:r>
                    </a:p>
                  </a:txBody>
                  <a:tcPr marL="91440" marR="91440" marT="45720" marB="45720">
                    <a:solidFill>
                      <a:srgbClr val="8750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Зона ответственности</a:t>
                      </a:r>
                    </a:p>
                  </a:txBody>
                  <a:tcPr marL="91440" marR="91440" marT="45720" marB="45720">
                    <a:solidFill>
                      <a:srgbClr val="87502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4364B"/>
                          </a:solidFill>
                          <a:latin typeface="Arial"/>
                          <a:ea typeface="Arial"/>
                          <a:cs typeface="Arial"/>
                        </a:rPr>
                        <a:t>D1–D3</a:t>
                      </a:r>
                    </a:p>
                  </a:txBody>
                  <a:tcPr marL="91440" marR="91440" marT="45720" marB="45720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4364B"/>
                          </a:solidFill>
                          <a:latin typeface="Arial"/>
                          <a:ea typeface="Arial"/>
                          <a:cs typeface="Arial"/>
                        </a:rPr>
                        <a:t>Архитектура, правила, данные</a:t>
                      </a:r>
                    </a:p>
                  </a:txBody>
                  <a:tcPr marL="91440" marR="91440" marT="45720" marB="45720">
                    <a:solidFill>
                      <a:srgbClr val="EFF4F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4364B"/>
                          </a:solidFill>
                          <a:latin typeface="Arial"/>
                          <a:ea typeface="Arial"/>
                          <a:cs typeface="Arial"/>
                        </a:rPr>
                        <a:t>D4–D5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4364B"/>
                          </a:solidFill>
                          <a:latin typeface="Arial"/>
                          <a:ea typeface="Arial"/>
                          <a:cs typeface="Arial"/>
                        </a:rPr>
                        <a:t>Интерфейс, интеграции, CI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4364B"/>
                          </a:solidFill>
                          <a:latin typeface="Arial"/>
                          <a:ea typeface="Arial"/>
                          <a:cs typeface="Arial"/>
                        </a:rPr>
                        <a:t>Q1–Q2</a:t>
                      </a:r>
                    </a:p>
                  </a:txBody>
                  <a:tcPr marL="91440" marR="91440" marT="45720" marB="45720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4364B"/>
                          </a:solidFill>
                          <a:latin typeface="Arial"/>
                          <a:ea typeface="Arial"/>
                          <a:cs typeface="Arial"/>
                        </a:rPr>
                        <a:t>Приёмка, регрессия, нагрузка</a:t>
                      </a:r>
                    </a:p>
                  </a:txBody>
                  <a:tcPr marL="91440" marR="91440" marT="45720" marB="45720">
                    <a:solidFill>
                      <a:srgbClr val="EFF4F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4364B"/>
                          </a:solidFill>
                          <a:latin typeface="Arial"/>
                          <a:ea typeface="Arial"/>
                          <a:cs typeface="Arial"/>
                        </a:rPr>
                        <a:t>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4364B"/>
                          </a:solidFill>
                          <a:latin typeface="Arial"/>
                          <a:ea typeface="Arial"/>
                          <a:cs typeface="Arial"/>
                        </a:rPr>
                        <a:t>Приоритеты, сроки и риски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4D262A-1D47-45E1-AC2E-124DF0D92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72125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D1 совмещает разработку с координацией. Девятого участника нет.</a:t>
            </a:r>
          </a:p>
        </p:txBody>
      </p:sp>
    </p:spTree>
    <p:extLst>
      <p:ext uri="{BB962C8B-B14F-4D97-AF65-F5344CB8AC3E}">
        <p14:creationId xmlns:p14="http://schemas.microsoft.com/office/powerpoint/2010/main" val="9804351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F93056-AB9F-4502-A1EA-18CA6BB2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875027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875027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875027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875027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875027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875027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875027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875027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875027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8750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875027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875027"/>
                </a:solidFill>
                <a:latin typeface="Arial"/>
                <a:ea typeface="Arial"/>
                <a:cs typeface="Arial"/>
              </a:rPr>
              <a:t>Ограничиваем очередь незавершённой работы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BDD51A-498C-4364-825A-6E43EB360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34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3 /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403CF5-884C-43B1-9FBE-F877E1F97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1714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7"/>
          </a:solidFill>
          <a:ln xmlns:a="http://schemas.openxmlformats.org/drawingml/2006/main" w="9525">
            <a:solidFill>
              <a:srgbClr val="875027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4364B"/>
                </a:solidFill>
                <a:latin typeface="Arial"/>
                <a:ea typeface="Arial"/>
                <a:cs typeface="Arial"/>
              </a:rPr>
              <a:t>Ready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9AC547-F567-4A88-A400-CAAD3EAA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524125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03CB65-FAB2-4CCA-BB8D-7CD74469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190750"/>
            <a:ext cx="1714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7"/>
          </a:solidFill>
          <a:ln xmlns:a="http://schemas.openxmlformats.org/drawingml/2006/main" w="9525">
            <a:solidFill>
              <a:srgbClr val="875027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4364B"/>
                </a:solidFill>
                <a:latin typeface="Arial"/>
                <a:ea typeface="Arial"/>
                <a:cs typeface="Arial"/>
              </a:rPr>
              <a:t>Разработка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E86DB6-F216-462D-BDB1-13721C791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24125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7A2768-DA4E-44FF-B27C-FA62E1DA1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90750"/>
            <a:ext cx="1714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7"/>
          </a:solidFill>
          <a:ln xmlns:a="http://schemas.openxmlformats.org/drawingml/2006/main" w="9525">
            <a:solidFill>
              <a:srgbClr val="875027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4364B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783710-1812-402E-B19A-800B7D359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24125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EC542C-1DBF-4C91-818F-D5B55A812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190750"/>
            <a:ext cx="1714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7"/>
          </a:solidFill>
          <a:ln xmlns:a="http://schemas.openxmlformats.org/drawingml/2006/main" w="9525">
            <a:solidFill>
              <a:srgbClr val="875027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4364B"/>
                </a:solidFill>
                <a:latin typeface="Arial"/>
                <a:ea typeface="Arial"/>
                <a:cs typeface="Arial"/>
              </a:rPr>
              <a:t>Test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C38948-4957-4BC7-8656-6F2AF5885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24125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6C757B-EADB-494B-8F62-4959C0F04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190750"/>
            <a:ext cx="1714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7"/>
          </a:solidFill>
          <a:ln xmlns:a="http://schemas.openxmlformats.org/drawingml/2006/main" w="9525">
            <a:solidFill>
              <a:srgbClr val="875027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4364B"/>
                </a:solidFill>
                <a:latin typeface="Arial"/>
                <a:ea typeface="Arial"/>
                <a:cs typeface="Arial"/>
              </a:rPr>
              <a:t>Accepted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00421C-D0C1-48F1-AC64-AE515A4E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05250"/>
            <a:ext cx="10763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WIP: разработка 3 · review 2 · test 2</a:t>
            </a:r>
          </a:p>
          <a:p xmlns:a="http://schemas.openxmlformats.org/drawingml/2006/main">
            <a:pPr>
              <a:defRPr sz="22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Блокировки остаются внутри лимита.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70A092-BDD6-44E7-A3DB-D48AD9D0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81625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Дефект возвращается в разработку с примером.</a:t>
            </a:r>
          </a:p>
          <a:p xmlns:a="http://schemas.openxmlformats.org/drawingml/2006/main">
            <a:pPr>
              <a:defRPr sz="20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Изменение требования возвращается на оценку в backlog.</a:t>
            </a:r>
          </a:p>
        </p:txBody>
      </p:sp>
    </p:spTree>
    <p:extLst>
      <p:ext uri="{BB962C8B-B14F-4D97-AF65-F5344CB8AC3E}">
        <p14:creationId xmlns:p14="http://schemas.microsoft.com/office/powerpoint/2010/main" val="41575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A5FDEF-5C91-46D8-89DF-1F459F32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875027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875027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875027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875027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875027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875027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875027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875027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875027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8750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875027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875027"/>
                </a:solidFill>
                <a:latin typeface="Arial"/>
                <a:ea typeface="Arial"/>
                <a:cs typeface="Arial"/>
              </a:rPr>
              <a:t>Коммуникации и календарь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50EA9A-A9A0-4722-8EE3-6461BA512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34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4 /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D384AA-AA65-47E4-B6F8-EB83E65DA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10810875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Ежедневно, 15 минут: препятствия и следующий шаг</a:t>
            </a:r>
          </a:p>
          <a:p xmlns:a="http://schemas.openxmlformats.org/drawingml/2006/main">
            <a:pPr>
              <a:defRPr sz="23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Дважды в неделю: уточнение небольших карточек</a:t>
            </a:r>
          </a:p>
          <a:p xmlns:a="http://schemas.openxmlformats.org/drawingml/2006/main">
            <a:pPr>
              <a:defRPr sz="23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Раз в 2 недели: демонстрация и обратная связь</a:t>
            </a:r>
          </a:p>
          <a:p xmlns:a="http://schemas.openxmlformats.org/drawingml/2006/main">
            <a:pPr>
              <a:defRPr sz="23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После демонстрации: одно улучшение процесса</a:t>
            </a:r>
          </a:p>
          <a:p xmlns:a="http://schemas.openxmlformats.org/drawingml/2006/main">
            <a:pPr>
              <a:defRPr sz="23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Еженедельно: риски, зависимости и корректировка плана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D63E39-3F91-46DD-B8B5-29FED372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81625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Решения сохраняем в задачах и ADR.</a:t>
            </a:r>
          </a:p>
          <a:p xmlns:a="http://schemas.openxmlformats.org/drawingml/2006/main">
            <a:pPr>
              <a:defRPr sz="20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Внешние уведомления заменены локальным журналом.</a:t>
            </a:r>
          </a:p>
        </p:txBody>
      </p:sp>
    </p:spTree>
    <p:extLst>
      <p:ext uri="{BB962C8B-B14F-4D97-AF65-F5344CB8AC3E}">
        <p14:creationId xmlns:p14="http://schemas.microsoft.com/office/powerpoint/2010/main" val="17163099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6464BD-49DB-4B1F-80D4-7F4E1A1E6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875027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875027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875027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875027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875027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875027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875027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875027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875027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8750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875027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875027"/>
                </a:solidFill>
                <a:latin typeface="Arial"/>
                <a:ea typeface="Arial"/>
                <a:cs typeface="Arial"/>
              </a:rPr>
              <a:t>Git, проверка и разрешение конфликтов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01425F-93C0-4C14-BAFA-DFA0C543D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34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5 /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0DC704-DC38-43D7-A5C4-A620ADA3A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10858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Короткая ветка → PR → независимый review → CI</a:t>
            </a:r>
          </a:p>
          <a:p xmlns:a="http://schemas.openxmlformats.org/drawingml/2006/main">
            <a:pPr>
              <a:defRPr sz="23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Автор не принимает собственное изменение.</a:t>
            </a:r>
          </a:p>
          <a:p xmlns:a="http://schemas.openxmlformats.org/drawingml/2006/main">
            <a:pPr>
              <a:defRPr sz="23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Конфликт: обновить ветку, согласовать смысл, повторить тесты.</a:t>
            </a:r>
          </a:p>
          <a:p xmlns:a="http://schemas.openxmlformats.org/drawingml/2006/main">
            <a:pPr>
              <a:defRPr sz="23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Done: код, review, тесты, документация и приёмка.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48A2CF-FBAB-48A0-AB2D-891663B63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05375"/>
            <a:ext cx="1076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Спор: записать варианты, ограничить обсуждение,</a:t>
            </a:r>
          </a:p>
          <a:p xmlns:a="http://schemas.openxmlformats.org/drawingml/2006/main">
            <a:pPr>
              <a:defRPr sz="21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проверить гипотезу небольшим экспериментом.</a:t>
            </a:r>
          </a:p>
          <a:p xmlns:a="http://schemas.openxmlformats.org/drawingml/2006/main">
            <a:pPr>
              <a:defRPr sz="21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D1 отвечает за техрешение, M согласует приоритет.</a:t>
            </a:r>
          </a:p>
        </p:txBody>
      </p:sp>
    </p:spTree>
    <p:extLst>
      <p:ext uri="{BB962C8B-B14F-4D97-AF65-F5344CB8AC3E}">
        <p14:creationId xmlns:p14="http://schemas.microsoft.com/office/powerpoint/2010/main" val="17246952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B96B71-9522-4630-B290-A3C52C48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875027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875027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875027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875027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875027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875027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875027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875027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875027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8750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875027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875027"/>
                </a:solidFill>
                <a:latin typeface="Arial"/>
                <a:ea typeface="Arial"/>
                <a:cs typeface="Arial"/>
              </a:rPr>
              <a:t>План и критерии контроля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FC9563-5972-49AB-9F77-A1B0973B7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34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6 /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3B183A-1CBD-41C8-988D-803E054E2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10858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Недели 1–2: модель, контракт, первый сценарий</a:t>
            </a:r>
          </a:p>
          <a:p xmlns:a="http://schemas.openxmlformats.org/drawingml/2006/main">
            <a:pPr>
              <a:defRPr sz="23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Недели 3–4: основные правила и ошибки</a:t>
            </a:r>
          </a:p>
          <a:p xmlns:a="http://schemas.openxmlformats.org/drawingml/2006/main">
            <a:pPr>
              <a:defRPr sz="23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Недели 5–6: интеграция, восстановление, приёмка</a:t>
            </a:r>
          </a:p>
          <a:p xmlns:a="http://schemas.openxmlformats.org/drawingml/2006/main">
            <a:pPr>
              <a:defRPr sz="23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Контроль: возраст задач, cycle time, возвраты и дефекты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2A9337-BE08-492E-9F31-BD9A4F60F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00625"/>
            <a:ext cx="10763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Это учебный план. Выполнение и эффект ещё не измерялись.</a:t>
            </a:r>
          </a:p>
          <a:p xmlns:a="http://schemas.openxmlformats.org/drawingml/2006/main">
            <a:pPr>
              <a:defRPr sz="19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Источники: Scrum Guide и The Kanban Guide.</a:t>
            </a:r>
          </a:p>
          <a:p xmlns:a="http://schemas.openxmlformats.org/drawingml/2006/main">
            <a:pPr>
              <a:defRPr sz="19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Полные ссылки и RACI приведены в письменном отчёте.</a:t>
            </a:r>
          </a:p>
        </p:txBody>
      </p:sp>
    </p:spTree>
    <p:extLst>
      <p:ext uri="{BB962C8B-B14F-4D97-AF65-F5344CB8AC3E}">
        <p14:creationId xmlns:p14="http://schemas.microsoft.com/office/powerpoint/2010/main" val="6371495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2026-10-29T18:23:39.2560000Z</dcterms:created>
  <dcterms:modified xsi:type="dcterms:W3CDTF">2026-10-29T18:23:39.2560000Z</dcterms:modified>
</coreProperties>
</file>